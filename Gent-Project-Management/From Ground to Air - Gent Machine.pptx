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98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5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5CE65-6F67-45D3-B86D-A1606D1E23A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B55C4A-63E6-43B7-9288-1CBDFA4C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0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55C4A-63E6-43B7-9288-1CBDFA4CB0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18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854F35E-E5CB-692B-E4D9-C24906B49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64303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95BF4-8199-7DA5-917F-214212CE2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64303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83FEB7C-A2B3-C5DD-D4A9-1DFB01BE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65BECD3-55F8-9BCE-E12F-E228DBDC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7648" y="6356350"/>
            <a:ext cx="3694422" cy="365125"/>
          </a:xfrm>
        </p:spPr>
        <p:txBody>
          <a:bodyPr/>
          <a:lstStyle/>
          <a:p>
            <a:r>
              <a:rPr lang="en-US" dirty="0"/>
              <a:t>© Aidan Systems 2026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736A5E5-81E7-41F1-2B51-C4949D01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87902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26430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600200"/>
            <a:ext cx="1126430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7648" y="6356350"/>
            <a:ext cx="36944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© Aidan Systems 2026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8790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DF4678-344F-12A6-03BA-85831B2F9B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8318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Aidan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5600" kern="1200">
          <a:solidFill>
            <a:srgbClr val="0598B3"/>
          </a:solidFill>
          <a:latin typeface="Bauhaus" panose="00000400000000000000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>
                <a:solidFill>
                  <a:srgbClr val="0598B3"/>
                </a:solidFill>
                <a:latin typeface="Bauhaus"/>
              </a:defRPr>
            </a:pPr>
            <a:r>
              <a:rPr sz="7200" dirty="0"/>
              <a:t>from ground to 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191919"/>
                </a:solidFill>
                <a:latin typeface="Century Gothic"/>
              </a:defRPr>
            </a:pPr>
            <a:r>
              <a:t>Gent Machine — Davenport Maintenance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598B3"/>
                </a:solidFill>
                <a:latin typeface="Century Gothic"/>
              </a:defRPr>
            </a:pPr>
            <a:r>
              <a:t>Phase 2: Managed 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206240"/>
            <a:ext cx="2103120" cy="22860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191919"/>
                </a:solidFill>
                <a:latin typeface="Century Gothic"/>
              </a:defRPr>
            </a:pPr>
            <a:r>
              <a:t>Aidan Systems  ·  MAGNET  ·  March 2026</a:t>
            </a:r>
          </a:p>
        </p:txBody>
      </p:sp>
      <p:pic>
        <p:nvPicPr>
          <p:cNvPr id="7" name="Picture 6" descr="Aida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303520"/>
            <a:ext cx="1407951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rPr dirty="0"/>
              <a:t>ai — a new operating altitude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30452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64008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entury Gothic"/>
              </a:defRPr>
            </a:pPr>
            <a:r>
              <a:t>speed at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291840" cy="22860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191919"/>
                </a:solidFill>
                <a:latin typeface="Century Gothic"/>
              </a:defRPr>
            </a:pPr>
            <a:r>
              <a:t>Decisions that took days happen in seconds.</a:t>
            </a:r>
            <a:br/>
            <a:r>
              <a:t>Work runs autonomously.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291840" cy="64008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entury Gothic"/>
              </a:defRPr>
            </a:pPr>
            <a:r>
              <a:t>intelligence that compounds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468880"/>
            <a:ext cx="3291840" cy="22860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191919"/>
                </a:solidFill>
                <a:latin typeface="Century Gothic"/>
              </a:defRPr>
            </a:pPr>
            <a:r>
              <a:t>Every interaction makes the system smarter.</a:t>
            </a:r>
            <a:br/>
            <a:r>
              <a:t>AI accelerates the more you use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8" y="1645920"/>
            <a:ext cx="3291840" cy="64008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entury Gothic"/>
              </a:defRPr>
            </a:pPr>
            <a:r>
              <a:t>reach without friction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2468880"/>
            <a:ext cx="3291840" cy="22860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191919"/>
                </a:solidFill>
                <a:latin typeface="Century Gothic"/>
              </a:defRPr>
            </a:pPr>
            <a:r>
              <a:t>Real-time insight across operations —</a:t>
            </a:r>
            <a:br/>
            <a:r>
              <a:t>without the coordination overhead.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1">
                <a:solidFill>
                  <a:srgbClr val="191919"/>
                </a:solidFill>
                <a:latin typeface="Century Gothic"/>
              </a:defRPr>
            </a:pPr>
            <a:r>
              <a:t>This isn’t about doing the same things faster. It’s about operating at a level that wasn’t previously 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rPr dirty="0"/>
              <a:t>where we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97992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Phase 1 complete — AI maintenance assistant live on the shop floor</a:t>
            </a:r>
          </a:p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Dave’s expertise captured: 1,241 documents indexed, 570-vertex knowledge graph</a:t>
            </a:r>
          </a:p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Real machinists asking real questions (thrust bearings, thread peaks, short parts)</a:t>
            </a:r>
          </a:p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System delivers step-by-step, source-cited guidance in seconds</a:t>
            </a:r>
          </a:p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Currently in the Adopt stage — system works, needs more knowledge and more pilots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5029200"/>
            <a:ext cx="3474720" cy="82296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entury Gothic"/>
              </a:defRPr>
            </a:pPr>
            <a:r>
              <a:t>Status: WHEELS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t>the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59080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Gent has more Davenport capacity than can currently be staffed</a:t>
            </a:r>
          </a:p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Dave has retired — his knowledge is in the system, not walking around</a:t>
            </a:r>
          </a:p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The bottleneck isn’t equipment — it’s skilled people</a:t>
            </a:r>
          </a:p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The AI cockpit lets less experienced operators perform at expert level</a:t>
            </a:r>
          </a:p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Each additional Davenport brought online = $120,000–$168,000/year in new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754880"/>
            <a:ext cx="7315200" cy="914400"/>
          </a:xfrm>
          <a:prstGeom prst="roundRect">
            <a:avLst/>
          </a:prstGeom>
          <a:solidFill>
            <a:srgbClr val="F5F9FA"/>
          </a:solidFill>
          <a:ln w="25400">
            <a:solidFill>
              <a:srgbClr val="059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i="1">
                <a:solidFill>
                  <a:srgbClr val="0598B3"/>
                </a:solidFill>
                <a:latin typeface="Century Gothic"/>
              </a:defRPr>
            </a:pPr>
            <a:r>
              <a:t>Phase 2 isn’t about protecting what you have. It’s about growing what you can 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t>the industrial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How we enable your team</a:t>
            </a:r>
          </a:p>
        </p:txBody>
      </p:sp>
      <p:pic>
        <p:nvPicPr>
          <p:cNvPr id="5" name="Picture 4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endParaRPr/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Traditional</a:t>
                      </a:r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Industrial Pilot (with Aidan)</a:t>
                      </a:r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Leadership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Manager — monitors and controls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Flight Instructor — coaches your team to fly solo with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Worker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Employee — does tasks, waits for the expert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Pilot — navigates independently with AI-powered instruments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Environment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Workplace — clock in, do the job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Airframe — the AI platform that everything runs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Culture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Silos — knowledge stuck in individual heads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Shared Airspace — everyone’s knowledge available to everyone, 24/7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Visibility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Time card — hours worked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Altitude Report — performance visibility across all cockpits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20416DE-6C9D-8315-2FAE-9636F44555D2}"/>
              </a:ext>
            </a:extLst>
          </p:cNvPr>
          <p:cNvSpPr/>
          <p:nvPr/>
        </p:nvSpPr>
        <p:spPr>
          <a:xfrm>
            <a:off x="731520" y="1654672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t>the flight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Six stages from ground to air</a:t>
            </a:r>
          </a:p>
        </p:txBody>
      </p:sp>
      <p:pic>
        <p:nvPicPr>
          <p:cNvPr id="5" name="Picture 4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197500"/>
              </p:ext>
            </p:extLst>
          </p:nvPr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Flight Term</a:t>
                      </a:r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Business Term</a:t>
                      </a:r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PRE-FLIGHT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Assess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✓ 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CONFIGURE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Configure &amp; Deploy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✓ Complete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TAXI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Train &amp; Tune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✓ 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1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TAKE OFF</a:t>
                      </a:r>
                      <a:endParaRPr dirty="0"/>
                    </a:p>
                  </a:txBody>
                  <a:tcPr anchor="ctr">
                    <a:solidFill>
                      <a:srgbClr val="E1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Adopt</a:t>
                      </a:r>
                      <a:r>
                        <a:rPr lang="en-US" dirty="0"/>
                        <a:t> &amp; Hypercare</a:t>
                      </a:r>
                      <a:endParaRPr dirty="0"/>
                    </a:p>
                  </a:txBody>
                  <a:tcPr anchor="ctr">
                    <a:solidFill>
                      <a:srgbClr val="E1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← You are here</a:t>
                      </a:r>
                    </a:p>
                  </a:txBody>
                  <a:tcPr anchor="ctr">
                    <a:solidFill>
                      <a:srgbClr val="E1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CLIMBING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Build Skills &amp; Trust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CRUISING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Compound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Goal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0583755-8DF6-B725-4BFF-68A3B67B3852}"/>
              </a:ext>
            </a:extLst>
          </p:cNvPr>
          <p:cNvSpPr/>
          <p:nvPr/>
        </p:nvSpPr>
        <p:spPr>
          <a:xfrm>
            <a:off x="731520" y="1635216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t>three value pillars</a:t>
            </a:r>
          </a:p>
        </p:txBody>
      </p:sp>
      <p:pic>
        <p:nvPicPr>
          <p:cNvPr id="4" name="Picture 3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73152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entury Gothic"/>
              </a:defRPr>
            </a:pPr>
            <a:r>
              <a:t>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200400" cy="292608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191919"/>
                </a:solidFill>
                <a:latin typeface="Century Gothic"/>
              </a:defRPr>
            </a:pPr>
            <a:r>
              <a:t>Get more machines running.</a:t>
            </a:r>
            <a:br/>
            <a:br/>
            <a:r>
              <a:t>A junior hire paired with the AI cockpit can operate a Davenport that would otherwise sit idle.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200400" cy="73152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entury Gothic"/>
              </a:defRPr>
            </a:pPr>
            <a:r>
              <a:t>capability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560320"/>
            <a:ext cx="3200400" cy="292608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191919"/>
                </a:solidFill>
                <a:latin typeface="Century Gothic"/>
              </a:defRPr>
            </a:pPr>
            <a:r>
              <a:t>Raise the floor across all operators.</a:t>
            </a:r>
            <a:br/>
            <a:br/>
            <a:r>
              <a:t>Every machinist gets expert-level troubleshooting — consistent quality, faster changeover.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8" y="1645920"/>
            <a:ext cx="3200400" cy="73152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entury Gothic"/>
              </a:defRPr>
            </a:pPr>
            <a:r>
              <a:t>redundancy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2560320"/>
            <a:ext cx="3200400" cy="292608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191919"/>
                </a:solidFill>
                <a:latin typeface="Century Gothic"/>
              </a:defRPr>
            </a:pPr>
            <a:r>
              <a:t>Remove single points of failure.</a:t>
            </a:r>
            <a:br/>
            <a:br/>
            <a:r>
              <a:t>No one person is a bottleneck. Every shift has the same knowledge available.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82C0D9-BF37-42FC-7B04-D187982B6494}"/>
              </a:ext>
            </a:extLst>
          </p:cNvPr>
          <p:cNvSpPr/>
          <p:nvPr/>
        </p:nvSpPr>
        <p:spPr>
          <a:xfrm>
            <a:off x="731520" y="1259080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rPr lang="en-US" dirty="0"/>
              <a:t>take off </a:t>
            </a:r>
            <a:r>
              <a:rPr dirty="0"/>
              <a:t>— adopt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Months 1–3: What we’re going to do</a:t>
            </a:r>
          </a:p>
        </p:txBody>
      </p:sp>
      <p:pic>
        <p:nvPicPr>
          <p:cNvPr id="5" name="Picture 4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"Ask the Cockpit First" — team expectation set by Rich</a:t>
            </a:r>
          </a:p>
          <a:p>
            <a:pPr>
              <a:spcAft>
                <a:spcPts val="10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Close known knowledge gaps (extension pin, oil specs, thrust bearing brands)</a:t>
            </a:r>
          </a:p>
          <a:p>
            <a:pPr>
              <a:spcAft>
                <a:spcPts val="10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Get Dave engaged remotely — reviewing answers on his phone, flagging what’s wrong</a:t>
            </a:r>
          </a:p>
          <a:p>
            <a:pPr>
              <a:spcAft>
                <a:spcPts val="10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Content sprint: cover top troubleshooting scenarios</a:t>
            </a:r>
          </a:p>
          <a:p>
            <a:pPr>
              <a:spcAft>
                <a:spcPts val="10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Shop floor display board — weekly visibility</a:t>
            </a:r>
          </a:p>
          <a:p>
            <a:pPr>
              <a:spcAft>
                <a:spcPts val="10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Biweekly coaching calls with Rich</a:t>
            </a:r>
          </a:p>
          <a:p>
            <a:pPr>
              <a:spcAft>
                <a:spcPts val="10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Monthly Altitude Report posted on the shop floor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059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598B3"/>
                </a:solidFill>
                <a:latin typeface="Century Gothic"/>
              </a:defRPr>
            </a:pPr>
            <a:r>
              <a:t>Target: 2+ queries per machinist per week  ·  70%+ top scenarios covered  ·  Feedback flowing from Dave and the team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542DCF-8450-E793-B449-445B8661FD3C}"/>
              </a:ext>
            </a:extLst>
          </p:cNvPr>
          <p:cNvSpPr/>
          <p:nvPr/>
        </p:nvSpPr>
        <p:spPr>
          <a:xfrm>
            <a:off x="731520" y="1740275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t>climbing to cruising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915777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67137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Months 4+: Expand and compound</a:t>
            </a:r>
          </a:p>
        </p:txBody>
      </p:sp>
      <p:pic>
        <p:nvPicPr>
          <p:cNvPr id="5" name="Picture 4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12373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t>Add setup procedures to KB — enables less experienced operators</a:t>
            </a:r>
          </a:p>
          <a:p>
            <a:pPr>
              <a:spcAft>
                <a:spcPts val="12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t>Altitude Report live — leaderboard, personal stats, team progress</a:t>
            </a:r>
          </a:p>
          <a:p>
            <a:pPr>
              <a:spcAft>
                <a:spcPts val="12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t>Growth planning: which jobs can a junior hire handle with cockpit support?</a:t>
            </a:r>
          </a:p>
          <a:p>
            <a:pPr>
              <a:spcAft>
                <a:spcPts val="12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t>When ready: add a New Leg to the airframe ($10,500)</a:t>
            </a:r>
          </a:p>
          <a:p>
            <a:pPr>
              <a:spcAft>
                <a:spcPts val="12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t>System is comprehensive — daily use, value compounding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362" y="5029200"/>
            <a:ext cx="10515600" cy="7315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059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598B3"/>
                </a:solidFill>
                <a:latin typeface="Century Gothic"/>
              </a:defRPr>
            </a:pPr>
            <a:r>
              <a:t>Target: 5+ queries/week  ·  70%+ satisfaction  ·  Setup procedures indexed  ·  Growth path identified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t>managed air — service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52728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idan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461910"/>
              </p:ext>
            </p:extLst>
          </p:nvPr>
        </p:nvGraphicFramePr>
        <p:xfrm>
          <a:off x="802888" y="1483112"/>
          <a:ext cx="10352792" cy="4555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0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5095">
                  <a:extLst>
                    <a:ext uri="{9D8B030D-6E8A-4147-A177-3AD203B41FA5}">
                      <a16:colId xmlns:a16="http://schemas.microsoft.com/office/drawing/2014/main" val="2804181545"/>
                    </a:ext>
                  </a:extLst>
                </a:gridCol>
              </a:tblGrid>
              <a:tr h="432261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endParaRPr/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Cruise</a:t>
                      </a:r>
                    </a:p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Compound Benefits</a:t>
                      </a:r>
                      <a:endParaRPr dirty="0"/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rPr dirty="0"/>
                        <a:t>Climb</a:t>
                      </a:r>
                      <a:endParaRPr lang="en-US" dirty="0"/>
                    </a:p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Building Skills &amp; Trust</a:t>
                      </a:r>
                      <a:endParaRPr dirty="0"/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Take Off </a:t>
                      </a:r>
                    </a:p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Adopt - Hypercare</a:t>
                      </a:r>
                      <a:endParaRPr dirty="0"/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Monthly Fee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$800/mo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$1,600/</a:t>
                      </a:r>
                      <a:r>
                        <a:rPr dirty="0" err="1"/>
                        <a:t>mo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$2,400/</a:t>
                      </a:r>
                      <a:r>
                        <a:rPr lang="en-US" dirty="0" err="1"/>
                        <a:t>mo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Azure Infrastructure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✓ Included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✓ Included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✓ Included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SOC 2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✓ Included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✓ Included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✓ Included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Altitude Report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Monthly</a:t>
                      </a:r>
                      <a:endParaRPr dirty="0"/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Monthly</a:t>
                      </a:r>
                      <a:endParaRPr dirty="0"/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Biweekly</a:t>
                      </a:r>
                      <a:endParaRPr dirty="0"/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System </a:t>
                      </a:r>
                      <a:r>
                        <a:rPr dirty="0"/>
                        <a:t>Adjustments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Minor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Proactive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Aggressive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Expert Onboarding</a:t>
                      </a:r>
                      <a:endParaRPr dirty="0"/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—</a:t>
                      </a:r>
                      <a:endParaRPr dirty="0"/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Knowledge Base Development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Intensive – aggressive feedback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Agent Tuning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Intensive - Jargon</a:t>
                      </a:r>
                      <a:endParaRPr dirty="0"/>
                    </a:p>
                  </a:txBody>
                  <a:tcPr anchor="ctr"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Coaching 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Monthly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Biweekly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t>expand the airframe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30452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73152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entury Gothic"/>
              </a:defRPr>
            </a:pPr>
            <a:r>
              <a:t>full throttle — solution expansion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598B3"/>
                </a:solidFill>
                <a:latin typeface="Century Gothic"/>
              </a:defRPr>
            </a:pPr>
            <a:r>
              <a:t>$1,500 per story point  ·  2–4 points ($3,000–$6,000)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91919"/>
                </a:solidFill>
                <a:latin typeface="Century Gothic"/>
              </a:defRPr>
            </a:pPr>
            <a:r>
              <a:t>New knowledge areas or deep content buildout</a:t>
            </a:r>
          </a:p>
          <a:p>
            <a:pPr>
              <a:spcAft>
                <a:spcPts val="800"/>
              </a:spcAft>
              <a:defRPr sz="1500" b="0">
                <a:solidFill>
                  <a:srgbClr val="191919"/>
                </a:solidFill>
                <a:latin typeface="Century Gothic"/>
              </a:defRPr>
            </a:pPr>
            <a:r>
              <a:t>Search quality overhaul or retrieval tuning</a:t>
            </a:r>
          </a:p>
          <a:p>
            <a:pPr>
              <a:spcAft>
                <a:spcPts val="800"/>
              </a:spcAft>
              <a:defRPr sz="1500" b="0">
                <a:solidFill>
                  <a:srgbClr val="191919"/>
                </a:solidFill>
                <a:latin typeface="Century Gothic"/>
              </a:defRPr>
            </a:pPr>
            <a:r>
              <a:t>Scoped improvement sprint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73152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entury Gothic"/>
              </a:defRPr>
            </a:pPr>
            <a:r>
              <a:t>new leg — new work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598B3"/>
                </a:solidFill>
                <a:latin typeface="Century Gothic"/>
              </a:defRPr>
            </a:pPr>
            <a:r>
              <a:t>$10,500  ·  7 story points at $1,500/point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91919"/>
                </a:solidFill>
                <a:latin typeface="Century Gothic"/>
              </a:defRPr>
            </a:pPr>
            <a:r>
              <a:t>Full Configure for a new machine type on the airframe</a:t>
            </a:r>
          </a:p>
          <a:p>
            <a:pPr>
              <a:spcAft>
                <a:spcPts val="800"/>
              </a:spcAft>
              <a:defRPr sz="1500" b="0">
                <a:solidFill>
                  <a:srgbClr val="191919"/>
                </a:solidFill>
                <a:latin typeface="Century Gothic"/>
              </a:defRPr>
            </a:pPr>
            <a:r>
              <a:t>Expert interviews, document ingestion, knowledge graph</a:t>
            </a:r>
          </a:p>
          <a:p>
            <a:pPr>
              <a:spcAft>
                <a:spcPts val="800"/>
              </a:spcAft>
              <a:defRPr sz="1500" b="0">
                <a:solidFill>
                  <a:srgbClr val="191919"/>
                </a:solidFill>
                <a:latin typeface="Century Gothic"/>
              </a:defRPr>
            </a:pPr>
            <a:r>
              <a:t>Agent configuration, tuning, and shop floor testing</a:t>
            </a:r>
          </a:p>
          <a:p>
            <a:pPr>
              <a:spcAft>
                <a:spcPts val="800"/>
              </a:spcAft>
              <a:defRPr sz="1500" b="0">
                <a:solidFill>
                  <a:srgbClr val="191919"/>
                </a:solidFill>
                <a:latin typeface="Century Gothic"/>
              </a:defRPr>
            </a:pPr>
            <a:r>
              <a:t>Same monthly Managed AIR covers all work centers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0598B3"/>
                </a:solidFill>
                <a:latin typeface="Century Gothic"/>
              </a:defRPr>
            </a:pPr>
            <a:r>
              <a:t>More legs on the airframe, more value per dollar.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t>managed 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01368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5788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Your AI operating system</a:t>
            </a:r>
          </a:p>
        </p:txBody>
      </p:sp>
      <p:pic>
        <p:nvPicPr>
          <p:cNvPr id="5" name="Picture 4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291840" cy="64008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entury Gothic"/>
              </a:defRPr>
            </a:pPr>
            <a:r>
              <a:t>monitoring &amp; 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291840" cy="109728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1919"/>
                </a:solidFill>
                <a:latin typeface="Century Gothic"/>
              </a:defRPr>
            </a:pPr>
            <a:r>
              <a:t>Continuous surveillance —</a:t>
            </a:r>
            <a:br/>
            <a:r>
              <a:t>catch issues before failures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291840" cy="64008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entury Gothic"/>
              </a:defRPr>
            </a:pPr>
            <a:r>
              <a:t>training &amp; enablement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743200"/>
            <a:ext cx="3291840" cy="109728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1919"/>
                </a:solidFill>
                <a:latin typeface="Century Gothic"/>
              </a:defRPr>
            </a:pPr>
            <a:r>
              <a:t>Your people become confident,</a:t>
            </a:r>
            <a:br/>
            <a:r>
              <a:t>capable AI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2011680"/>
            <a:ext cx="3291840" cy="64008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entury Gothic"/>
              </a:defRPr>
            </a:pPr>
            <a:r>
              <a:t>continuous improvement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2743200"/>
            <a:ext cx="3291840" cy="109728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1919"/>
                </a:solidFill>
                <a:latin typeface="Century Gothic"/>
              </a:defRPr>
            </a:pPr>
            <a:r>
              <a:t>Models evolve, outcomes</a:t>
            </a:r>
            <a:br/>
            <a:r>
              <a:t>accelerate — value compounds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3291840" cy="64008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entury Gothic"/>
              </a:defRPr>
            </a:pPr>
            <a:r>
              <a:t>change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3291840" cy="109728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1919"/>
                </a:solidFill>
                <a:latin typeface="Century Gothic"/>
              </a:defRPr>
            </a:pPr>
            <a:r>
              <a:t>Sense and respond as</a:t>
            </a:r>
            <a:br/>
            <a:r>
              <a:t>the landscape shifts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4206240"/>
            <a:ext cx="3291840" cy="64008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entury Gothic"/>
              </a:defRPr>
            </a:pPr>
            <a:r>
              <a:t>governance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937760"/>
            <a:ext cx="3291840" cy="109728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1919"/>
                </a:solidFill>
                <a:latin typeface="Century Gothic"/>
              </a:defRPr>
            </a:pPr>
            <a:r>
              <a:t>Policies current, data quality</a:t>
            </a:r>
            <a:br/>
            <a:r>
              <a:t>maintained, risks managed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8" y="4206240"/>
            <a:ext cx="3291840" cy="64008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entury Gothic"/>
              </a:defRPr>
            </a:pPr>
            <a:r>
              <a:t>data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4937760"/>
            <a:ext cx="3291840" cy="109728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1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91919"/>
                </a:solidFill>
                <a:latin typeface="Century Gothic"/>
              </a:defRPr>
            </a:pPr>
            <a:r>
              <a:t>Clean, current, trustworthy data —</a:t>
            </a:r>
            <a:br/>
            <a:r>
              <a:t>AI is only as good as</a:t>
            </a:r>
            <a:br/>
            <a:r>
              <a:t>what you feed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t>without vs. with managed 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6444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93297"/>
            <a:ext cx="5029200" cy="640080"/>
          </a:xfrm>
          <a:prstGeom prst="roundRect">
            <a:avLst/>
          </a:prstGeom>
          <a:solidFill>
            <a:srgbClr val="8B0C0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entury Gothic"/>
              </a:defRPr>
            </a:pPr>
            <a:r>
              <a:t>without managed 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16257"/>
            <a:ext cx="4572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52222"/>
                </a:solidFill>
                <a:latin typeface="Century Gothic"/>
              </a:defRPr>
            </a:pPr>
            <a:r>
              <a:rPr dirty="0"/>
              <a:t>System drifts — no one maintaining or improving</a:t>
            </a:r>
          </a:p>
          <a:p>
            <a:pPr>
              <a:spcAft>
                <a:spcPts val="1200"/>
              </a:spcAft>
              <a:defRPr sz="1600" b="0">
                <a:solidFill>
                  <a:srgbClr val="552222"/>
                </a:solidFill>
                <a:latin typeface="Century Gothic"/>
              </a:defRPr>
            </a:pPr>
            <a:r>
              <a:rPr dirty="0"/>
              <a:t>Team reverts to old habits</a:t>
            </a:r>
          </a:p>
          <a:p>
            <a:pPr>
              <a:spcAft>
                <a:spcPts val="1200"/>
              </a:spcAft>
              <a:defRPr sz="1600" b="0">
                <a:solidFill>
                  <a:srgbClr val="552222"/>
                </a:solidFill>
                <a:latin typeface="Century Gothic"/>
              </a:defRPr>
            </a:pPr>
            <a:r>
              <a:rPr dirty="0"/>
              <a:t>Knowledge gaps stay open — trust erodes</a:t>
            </a:r>
          </a:p>
          <a:p>
            <a:pPr>
              <a:spcAft>
                <a:spcPts val="1200"/>
              </a:spcAft>
              <a:defRPr sz="1600" b="0">
                <a:solidFill>
                  <a:srgbClr val="552222"/>
                </a:solidFill>
                <a:latin typeface="Century Gothic"/>
              </a:defRPr>
            </a:pPr>
            <a:r>
              <a:rPr dirty="0"/>
              <a:t>Phase 1 investment slowly goes to waste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93297"/>
            <a:ext cx="5029200" cy="640080"/>
          </a:xfrm>
          <a:prstGeom prst="roundRect">
            <a:avLst/>
          </a:prstGeom>
          <a:solidFill>
            <a:srgbClr val="0C6B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entury Gothic"/>
              </a:defRPr>
            </a:pPr>
            <a:r>
              <a:t>with managed 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916257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C4B2E"/>
                </a:solidFill>
                <a:latin typeface="Century Gothic"/>
              </a:defRPr>
            </a:pPr>
            <a:r>
              <a:rPr dirty="0"/>
              <a:t>Performance tracked and reported monthly</a:t>
            </a:r>
          </a:p>
          <a:p>
            <a:pPr>
              <a:spcAft>
                <a:spcPts val="1200"/>
              </a:spcAft>
              <a:defRPr sz="1600" b="0">
                <a:solidFill>
                  <a:srgbClr val="0C4B2E"/>
                </a:solidFill>
                <a:latin typeface="Century Gothic"/>
              </a:defRPr>
            </a:pPr>
            <a:r>
              <a:rPr dirty="0"/>
              <a:t>Team coached through adoption</a:t>
            </a:r>
          </a:p>
          <a:p>
            <a:pPr>
              <a:spcAft>
                <a:spcPts val="1200"/>
              </a:spcAft>
              <a:defRPr sz="1600" b="0">
                <a:solidFill>
                  <a:srgbClr val="0C4B2E"/>
                </a:solidFill>
                <a:latin typeface="Century Gothic"/>
              </a:defRPr>
            </a:pPr>
            <a:r>
              <a:rPr dirty="0"/>
              <a:t>Knowledge base grows — system gets smarter every month</a:t>
            </a:r>
          </a:p>
          <a:p>
            <a:pPr>
              <a:spcAft>
                <a:spcPts val="1200"/>
              </a:spcAft>
              <a:defRPr sz="1600" b="0">
                <a:solidFill>
                  <a:srgbClr val="0C4B2E"/>
                </a:solidFill>
                <a:latin typeface="Century Gothic"/>
              </a:defRPr>
            </a:pPr>
            <a:r>
              <a:rPr dirty="0"/>
              <a:t>Phase 1 investment compounds into real growth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4059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Start at Medium tier for 6 months to drive adoption</a:t>
            </a:r>
          </a:p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Drop to Small once the system is self-sustaining</a:t>
            </a:r>
          </a:p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Less than the cost of one extended downtime incident per month</a:t>
            </a:r>
          </a:p>
          <a:p>
            <a:pPr>
              <a:spcAft>
                <a:spcPts val="1400"/>
              </a:spcAft>
              <a:defRPr sz="2000" b="0">
                <a:solidFill>
                  <a:srgbClr val="191919"/>
                </a:solidFill>
                <a:latin typeface="Century Gothic"/>
              </a:defRPr>
            </a:pPr>
            <a:r>
              <a:t>When ready to expand: Full Throttle sprints or New Legs on the airframe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052242"/>
              </p:ext>
            </p:extLst>
          </p:nvPr>
        </p:nvGraphicFramePr>
        <p:xfrm>
          <a:off x="731520" y="3657600"/>
          <a:ext cx="1083601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7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0381">
                  <a:extLst>
                    <a:ext uri="{9D8B030D-6E8A-4147-A177-3AD203B41FA5}">
                      <a16:colId xmlns:a16="http://schemas.microsoft.com/office/drawing/2014/main" val="158826904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rPr dirty="0"/>
                        <a:t>Focus</a:t>
                      </a:r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0598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t>Months 1–3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Take-Off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Drive daily use, close gaps, coaching cadence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$2400 / month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Months 4–</a:t>
                      </a:r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Climb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Add setup procedures, Altitude Report, growth planning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$1600 / month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Month </a:t>
                      </a:r>
                      <a:r>
                        <a:rPr lang="en-US" dirty="0"/>
                        <a:t>10</a:t>
                      </a:r>
                      <a:r>
                        <a:rPr dirty="0"/>
                        <a:t>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Cruise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dirty="0"/>
                        <a:t>Sustain, support new hires, enable expansion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$800 / month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919"/>
                          </a:solidFill>
                          <a:latin typeface="Century Gothic"/>
                        </a:defRPr>
                      </a:pPr>
                      <a:r>
                        <a:rPr lang="en-US" dirty="0"/>
                        <a:t>$19,200 year 1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893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0598B3"/>
                </a:solidFill>
                <a:latin typeface="Bauhaus"/>
              </a:defRPr>
            </a:pPr>
            <a:r>
              <a:t>the return on investment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57845"/>
            <a:ext cx="1828800" cy="27432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334229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53374"/>
            <a:ext cx="548640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Each additional Davenport running: $120K–$168K/year in new revenue</a:t>
            </a:r>
          </a:p>
          <a:p>
            <a:pPr>
              <a:spcAft>
                <a:spcPts val="14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rPr lang="en-US" dirty="0"/>
              <a:t>2</a:t>
            </a:r>
            <a:r>
              <a:rPr dirty="0"/>
              <a:t>%+ efficiency improvement across existing machines</a:t>
            </a:r>
          </a:p>
          <a:p>
            <a:pPr>
              <a:spcAft>
                <a:spcPts val="14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Faster onboarding: new hires productive in weeks, not months</a:t>
            </a:r>
          </a:p>
          <a:p>
            <a:pPr>
              <a:spcAft>
                <a:spcPts val="1400"/>
              </a:spcAft>
              <a:defRPr sz="1800" b="0">
                <a:solidFill>
                  <a:srgbClr val="191919"/>
                </a:solidFill>
                <a:latin typeface="Century Gothic"/>
              </a:defRPr>
            </a:pPr>
            <a:r>
              <a:rPr dirty="0"/>
              <a:t>Knowledge insurance: Dave’s expertise available 24/7, permanently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114800" cy="2286000"/>
          </a:xfrm>
          <a:prstGeom prst="round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0" b="1">
                <a:solidFill>
                  <a:srgbClr val="FFFFFF"/>
                </a:solidFill>
                <a:latin typeface="Century Gothic"/>
              </a:defRPr>
            </a:pPr>
            <a:r>
              <a:rPr lang="en-US" dirty="0"/>
              <a:t>3</a:t>
            </a:r>
            <a:r>
              <a:rPr dirty="0"/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598B3"/>
                </a:solidFill>
                <a:latin typeface="Century Gothic"/>
              </a:defRPr>
            </a:pPr>
            <a:r>
              <a:t>Return on Managed AIR investment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2A8DF00-1643-74F1-EDCA-80FCC32CD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001923"/>
              </p:ext>
            </p:extLst>
          </p:nvPr>
        </p:nvGraphicFramePr>
        <p:xfrm>
          <a:off x="762000" y="4572000"/>
          <a:ext cx="8374566" cy="1772920"/>
        </p:xfrm>
        <a:graphic>
          <a:graphicData uri="http://schemas.openxmlformats.org/drawingml/2006/table">
            <a:tbl>
              <a:tblPr/>
              <a:tblGrid>
                <a:gridCol w="1973766">
                  <a:extLst>
                    <a:ext uri="{9D8B030D-6E8A-4147-A177-3AD203B41FA5}">
                      <a16:colId xmlns:a16="http://schemas.microsoft.com/office/drawing/2014/main" val="3973846820"/>
                    </a:ext>
                  </a:extLst>
                </a:gridCol>
                <a:gridCol w="2371493">
                  <a:extLst>
                    <a:ext uri="{9D8B030D-6E8A-4147-A177-3AD203B41FA5}">
                      <a16:colId xmlns:a16="http://schemas.microsoft.com/office/drawing/2014/main" val="87024150"/>
                    </a:ext>
                  </a:extLst>
                </a:gridCol>
                <a:gridCol w="1642946">
                  <a:extLst>
                    <a:ext uri="{9D8B030D-6E8A-4147-A177-3AD203B41FA5}">
                      <a16:colId xmlns:a16="http://schemas.microsoft.com/office/drawing/2014/main" val="933066277"/>
                    </a:ext>
                  </a:extLst>
                </a:gridCol>
                <a:gridCol w="1234068">
                  <a:extLst>
                    <a:ext uri="{9D8B030D-6E8A-4147-A177-3AD203B41FA5}">
                      <a16:colId xmlns:a16="http://schemas.microsoft.com/office/drawing/2014/main" val="777387927"/>
                    </a:ext>
                  </a:extLst>
                </a:gridCol>
                <a:gridCol w="1152293">
                  <a:extLst>
                    <a:ext uri="{9D8B030D-6E8A-4147-A177-3AD203B41FA5}">
                      <a16:colId xmlns:a16="http://schemas.microsoft.com/office/drawing/2014/main" val="2857659495"/>
                    </a:ext>
                  </a:extLst>
                </a:gridCol>
              </a:tblGrid>
              <a:tr h="71368"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Revenue Base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Profit-Savings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Cost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ROI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510709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1+ Davenport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$140 k for ½ year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@35% = $25 k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807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2% efficiency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 10 x $140 k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@ 2% = $28 k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418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Onboard Savings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1 hire x 3 months faster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3 x $2k = $6 k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93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$59 k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$19.2 k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$39k,  3x</a:t>
                      </a:r>
                    </a:p>
                  </a:txBody>
                  <a:tcPr marR="12700" marT="12700" marB="12700" anchor="ctr">
                    <a:lnL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54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416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2353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2400" i="1">
                <a:solidFill>
                  <a:srgbClr val="191919"/>
                </a:solidFill>
                <a:latin typeface="Century Gothic"/>
              </a:defRPr>
            </a:pPr>
            <a:r>
              <a:rPr dirty="0"/>
              <a:t>The question is</a:t>
            </a:r>
            <a:br>
              <a:rPr dirty="0"/>
            </a:br>
            <a:br>
              <a:rPr dirty="0"/>
            </a:br>
            <a:r>
              <a:rPr dirty="0"/>
              <a:t>how many more machines could be running if the skills bottleneck were removed — and the knowledge to do that is already in the system.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4754880"/>
            <a:ext cx="2103120" cy="22860"/>
          </a:xfrm>
          <a:prstGeom prst="rect">
            <a:avLst/>
          </a:prstGeom>
          <a:solidFill>
            <a:srgbClr val="059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191919"/>
                </a:solidFill>
                <a:latin typeface="Century Gothic"/>
              </a:defRPr>
            </a:pPr>
            <a:r>
              <a:t>Aidan Systems  ·  MAGNET  ·  March 2026</a:t>
            </a:r>
          </a:p>
        </p:txBody>
      </p:sp>
      <p:pic>
        <p:nvPicPr>
          <p:cNvPr id="5" name="Picture 4" descr="Aidan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669280"/>
            <a:ext cx="668458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BBBBBB"/>
                </a:solidFill>
                <a:latin typeface="Century Gothi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1262</Words>
  <Application>Microsoft Office PowerPoint</Application>
  <PresentationFormat>Widescreen</PresentationFormat>
  <Paragraphs>245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Bauhaus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Quentin Fisher</cp:lastModifiedBy>
  <cp:revision>4</cp:revision>
  <dcterms:created xsi:type="dcterms:W3CDTF">2013-01-27T09:14:16Z</dcterms:created>
  <dcterms:modified xsi:type="dcterms:W3CDTF">2026-03-25T14:50:31Z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224aaf-27f7-49b0-81ff-9b38d065273a_Enabled">
    <vt:lpwstr>true</vt:lpwstr>
  </property>
  <property fmtid="{D5CDD505-2E9C-101B-9397-08002B2CF9AE}" pid="3" name="MSIP_Label_55224aaf-27f7-49b0-81ff-9b38d065273a_SetDate">
    <vt:lpwstr>2026-03-25T00:16:58Z</vt:lpwstr>
  </property>
  <property fmtid="{D5CDD505-2E9C-101B-9397-08002B2CF9AE}" pid="4" name="MSIP_Label_55224aaf-27f7-49b0-81ff-9b38d065273a_Method">
    <vt:lpwstr>Standard</vt:lpwstr>
  </property>
  <property fmtid="{D5CDD505-2E9C-101B-9397-08002B2CF9AE}" pid="5" name="MSIP_Label_55224aaf-27f7-49b0-81ff-9b38d065273a_Name">
    <vt:lpwstr>General</vt:lpwstr>
  </property>
  <property fmtid="{D5CDD505-2E9C-101B-9397-08002B2CF9AE}" pid="6" name="MSIP_Label_55224aaf-27f7-49b0-81ff-9b38d065273a_SiteId">
    <vt:lpwstr>fcef54f2-32db-45a9-beee-b802260e76c3</vt:lpwstr>
  </property>
  <property fmtid="{D5CDD505-2E9C-101B-9397-08002B2CF9AE}" pid="7" name="MSIP_Label_55224aaf-27f7-49b0-81ff-9b38d065273a_ActionId">
    <vt:lpwstr>0715e096-132c-44b0-a8d8-e7758bd0986c</vt:lpwstr>
  </property>
  <property fmtid="{D5CDD505-2E9C-101B-9397-08002B2CF9AE}" pid="8" name="MSIP_Label_55224aaf-27f7-49b0-81ff-9b38d065273a_ContentBits">
    <vt:lpwstr>2</vt:lpwstr>
  </property>
  <property fmtid="{D5CDD505-2E9C-101B-9397-08002B2CF9AE}" pid="9" name="MSIP_Label_55224aaf-27f7-49b0-81ff-9b38d065273a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Aidan Confidential</vt:lpwstr>
  </property>
</Properties>
</file>